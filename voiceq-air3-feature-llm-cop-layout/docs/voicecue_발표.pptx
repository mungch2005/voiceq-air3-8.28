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1440000"/>
            <a:ext cx="1067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제8회 공군 창의·혁신 아이디어 공모 해커톤 · 항공우주작전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836000"/>
            <a:ext cx="1067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6EEF2"/>
                </a:solidFill>
                <a:latin typeface="맑은 고딕"/>
              </a:rPr>
              <a:t>전투지휘소가 스스로 화면을 구성한다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204000"/>
            <a:ext cx="792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3A8B3"/>
                </a:solidFill>
                <a:latin typeface="맑은 고딕"/>
              </a:rPr>
              <a:t>VOICE-CUE — 회의 발언을 알아듣고 공통작전상황도(COP)를 스스로 구성하며 작전상황일지를 대신 쓰는 AI 보조 참모.  팀 작비스(작전과 자비스)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1~2분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현행 화면 표출 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5초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VOICE-CUE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1,527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구축한 학습 데이터(턴)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4000" y="4536000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2GB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4000" y="5076000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폐쇄망 구동 모델 크기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오늘 말씀드릴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1944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1944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문제 — 전투지휘소의 1~2분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04–08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2214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현장에서 목격한 공백 · 왜 개인의 실수가 아닌가 · 통합과 표출의 간극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00" y="1944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2000" y="1944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해결 구조 — 설계 판단 넷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09–13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2000" y="2214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표출/기록 분리 · 플레이북 · 사태 단위 기록 · 화자 영향력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2718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0000" y="2718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시연 — 실제로 동작하는 것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14–17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0000" y="2988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COP 자동 구성 · 작전상황일지 · 전장상황도 · 수동 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2000" y="2718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2000" y="2718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파인튜닝 — 폐쇄망 sLLM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18–20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2000" y="2988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왜 필요한가 · 데이터 구축 · 학습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00" y="3492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0000" y="3492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성과 — 실측 결과와 품질지표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21–23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0000" y="3762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튜닝 전/후 비교 · 기획서 4개 지표 대비 · 폐쇄망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000" y="3492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2000" y="3492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보안 — 군 환경 설계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24–25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2000" y="3762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3중 방어 구조 · 위험요소와 대비책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00" y="4266000"/>
            <a:ext cx="50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93B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0000" y="4266000"/>
            <a:ext cx="4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마무리 — 기대 효과와 확장성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26–27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0000" y="4536000"/>
            <a:ext cx="45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작전적·인력 효과 · 타군·타 기관 수평 확산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서론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한 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만들어진 정보를 무엇을·어디에·언제까지 보여줄지 결정하는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① 음성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발언 내용을 추출하고 발화자를 구분해 회의록으로 정리합니다. 화자의 계급·직책이 이후 판단의 가중치가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② 작전상황일지 · 상황판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회의록을 주요사태(MSEL)별로 묶어 공식 기록부를 쓰고, 사태별 중요도를 평가해 우선순위 현황판을 운영합니다.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기능 ③ 공통작전상황도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중요도·긴급도에 따라 정보를 자동 선택하고 Video Wall의 화면 크기·위치를 스스로 배치합니다.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선정 배경 · 현장에서 목격한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“무인기 2대 식별” 보고 이후, 지휘관은 1~2분간 말로만 판단한다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현행 절차 — 네 단계의 수작업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① 작전병이 CCTV 프로그램을 연다
② 해당 카메라를 찾는다
③ 화면 크기와 위치를 조정한다
④ 작전상황일지에 수기 입력한다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그동안 벌어지는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지휘관이 판단에 필요한 것은 지금 그 무인기가 보이는 화면입니다. 그러나 그 화면이 뜰 때까지 눈으로 확인하지 못한 채 말로 들은 정보만으로 판단해야 하고, 화면 구성의 품질은 담당 인원의 숙련도에 따라 크게 달라집니다.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075999"/>
            <a:ext cx="519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1~2분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" y="5615999"/>
            <a:ext cx="51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보고 → 화면 표출까지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5075999"/>
            <a:ext cx="519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담당자별 상이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5615999"/>
            <a:ext cx="51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구성 품질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문제 · 그 1~2분 동안 벌어지는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상황은 기다려주지 않는다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21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360"/>
                <a:gridCol w="5015840"/>
                <a:gridCol w="426880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경과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무슨 일이 일어나는가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왜 문제인가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T+0초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“무인기 2대, 지상 차량 3대 식별되었습니다”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지휘관이 판단을 시작해야 하는 시점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T+10초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작전병이 CCTV 프로그램을 연다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어느 카메라인지는 아직 모른다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T+30초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북서방을 보는 카메라를 목록에서 찾는다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카메라가 수백 대다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T+60초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화면 크기와 위치를 조정한다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동시에 다른 보고가 계속 들어온다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T+90초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작전상황일지에 수기로 입력한다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화면 조작과 동시에 할 수 없다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T+120초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이제야 화면이 뜬다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그동안 상황은 이미 다음 단계로 넘어갔다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지휘관은 이 2분 내내 눈으로 확인하지 못한 채 말로 들은 정보만으로 판단합니다. 화면이 떴을 때는 이미 다음 보고가 들어와 있고, 방금 띄운 화면은 더 이상 지금 필요한 화면이 아닐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문제 · 담당자를 탓할 수 없는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더 숙련된 사람을 앉혀도 풀리지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한계 ① 한 사람이 동시에 할 수 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상황을 듣고, 카메라를 찾고, 화면을 배치하고, 일지를 쓰는 네 가지가 같은 시각에 필요합니다. 사람은 순서대로 할 수밖에 없고, 그 순서가 곧 지연입니다.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한계 ② 고를 것이 계속 늘어난다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「지능형 스마트 비행단」으로 센서·영상·데이터가 과거 대비 현저히 증가했습니다. 정보가 늘수록 고르는 일은 쉬워지지 않고 어려워집니다. 통합의 성과가 표출의 부담으로 되돌아옵니다.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한계 ③ 지식이 사람에게만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“이 상황엔 이 화면”이라는 판단은 경험에 축적된 암묵지입니다. 담당자가 바뀌면 품질도 바뀌고, 그 지식은 부대에 남지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세 가지 모두 개인의 역량 문제가 아니라 구조의 문제입니다. 그래서 교육이나 인력 충원이 아니라 그 판단을 체계에 옮기는 것으로 풀어야 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당면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정보의 ‘통합’은 진전되었으나 ‘표출 방식’은 미정립 상태다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이미 해결된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「지능형 스마트 비행단」 구축으로 지휘관이 활용 가능한 센서·영상·데이터가 과거 대비 현저히 증가했습니다. 정보의 통합·시현 기반은 마련되었습니다.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남아 있는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10면 이상 다중 화면에 무엇을·어디에·어떤 규모로 띄울지는 여전히 수작업입니다. 작전병·정통대대 인원의 개인 역량에 좌우되고, 통합 정보량이 늘수록 화면 구성의 중요성과 난이도는 더 올라갑니다.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정보를 더 모으는 것으로는 풀리지 않는 문제입니다. 모은 정보 중에서 지금 필요한 것을 고르는 단계가 비어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차별화 · 기존 체계와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연주자가 아니라 지휘자다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기존 체계 — 정보를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CCTV 영상 자동 감시 보고(영상→텍스트), AI 항공통제 등. 각자 자기 정보를 생산하는 연주자에 해당합니다.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VOICE-CUE — 만들어진 정보를 배치한다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다수의 정보를 발언·맥락에 따라 무엇을, 어느 규모로, 언제까지 보여줄지 결정하는 시현 오케스트레이션(Display Orchestration) 계층입니다. ‘지휘결심 가시화 체계’ 상위에 부가되는 지능형 표출·기록 계층으로, 기존작과 중복되지 않는 신규 영역입니다.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전체 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하나가 네 가지 산출물이 되기까지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① 발언 · 화자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편제 드롭다운 또는 Whisper 음성 인식. 계급·담당분야·영향력이 함께 실린다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② AI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이전 Context Memory와 함께 입력받아 주요사태를 구분하고 중요도·긴급도를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③ Context Memory 먼저 갱신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판단 결과와 상황 요약을 저장. 이 메모를 바탕으로 나머지가 산출된다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④ 세 가지 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구성(COP) · 작전상황판 · 작전상황일지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순서가 핵심입니다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Context Memory를 가장 먼저 갱신하고 그것을 바탕으로 나머지를 산출하므로 앞선 상황이 일관되게 반영됩니다. 갱신된 메모는 다음 발언에서 다시 입력으로 읽힙니다.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사람이 보는 기록과 AI의 기억은 별개입니다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작전상황일지는 사람이 읽는 공식 기록부이고 Context Memory는 AI가 다음 판단에 쓰는 내부 기억입니다. 둘을 분리해야 일지가 AI의 중간 사고로 오염되지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① · 표출 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화면에 필요한 것만 따로 먼저 받는다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FAST — 표출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상황 유형 하나만 받습니다. 출력이 짧아 빠르고, 화면은 이것이 도착하는 즉시 갱신됩니다.
{ "situation": { "type": "드론상황" } }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FULL — 기록 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Context Memory · 상황판 · 작전상황일지를 만듭니다. 출력이 길어 느리지만 화면 표출을 붙잡지 않습니다.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왜 나눴나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한 번의 호출로 네 가지를 다 만들면 가장 느린 산출물이 화면 표출까지 붙잡아 둡니다. 두 호출을 스레드로 동시에 던지면 느린 쪽 하나만큼만 걸립니다.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3-라① “필요정보 표출 지연시간 5초 이내”는 FAST 경로의 지연으로 측정합니다.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② · 배치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LLM은 화면을 고르지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상황 유형 분류만 한다 (11종 중 하나)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운용자 플레이북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상황 유형별 화면 슬롯 정답 레이아웃. 앱에서 표로 편집한다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코드가 슬롯 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발언의 방위·시설명과 태그가 겹치는 CCTV를 직접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폐쇄 카탈로그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화면 소스 270건 중에서만 선택. 없는 화면을 지어낼 수 없다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왜 이렇게 했나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배치를 LLM이 매번 자유롭게 정하면 같은 상황에도 결과가 흔들립니다. 운용 경험자가 “이 상황엔 이 화면을 이 순서로”를 이미 알고 있으므로 그 판단을 데이터로 고정했습니다.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지표 ②가 구조적으로 보장됩니다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정답이 곧 플레이북이므로, 플레이북을 따르는 한 전문가 정답 레이아웃 대비 일치율은 정의상 100%입니다. 남는 평가 대상은 “상황 유형을 맞게 분류했는가” 하나로 좁혀집니다.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③ · 기록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하나가 곧 사태 하나가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200"/>
                <a:gridCol w="6189760"/>
                <a:gridCol w="34150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발언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일지 반영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상황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북서방 상공에 무인기 2대 식별되었습니다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 신설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북측 대공포 사격대기 완료했습니다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1번은 격추 대응, 2번은 추적 유지합니다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차량 3대는 정상 지원 차량으로 확인되었습니다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사태1에 병합(정정)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무시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저건 왜 저렇게 대응하는 겁니까?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일지 불변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하나의 사태는 여러 발언에 걸쳐 진행됩니다. 발언마다 새 항목을 만들면 일지가 사태가 아니라 발언의 나열이 되어 버립니다.  학습 데이터도 이 비율을 반영합니다 — 상황 242 · 조치 838 · 무시 135건.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핵심 설계 ④ · 발화자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누가 말했는지가 판단의 무게를 바꾼다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21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280"/>
                <a:gridCol w="2774720"/>
                <a:gridCol w="1173920"/>
                <a:gridCol w="416208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직책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담당분야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영향력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취급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비행단장 (준장)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지휘 · 결심 · 교전승인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결심으로 즉시 최우선 반영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기지방호전대장 (대령)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방호 · 경계 · 대공방어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결심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정보과장 (중령)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정보 · 위협판단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담당분야 내 권위 있는 판단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대공방어대장 (소령)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대공방어 · 교전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담당분야 내 권위 있는 판단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지휘통제망 채팅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상황전파 · 신규상황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신규 사태 개시 근거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기타 지휘관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일반 · 회의참석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사실 전파 — 단독으로 판단을 뒤집지 않음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화자 이름만 넘기면 LLM은 그가 누구인지 모릅니다. 편제 20개 직책·21개 부대를 정의해 프롬프트에 그대로 주입합니다.  신규 사태는 실제 운용대로 항작 계열 또는 지휘통제망 채팅이 전파합니다(데이터의 83%).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① · 공통작전상황도 자동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“북서방 상공에 무인기 2대 식별” → 즉시 이 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Video Wall 2행 6열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1순위 기지 전장상황도 — 4칸 (고정)
2순위 북서 열상감시장비(TOD) — 2칸
3순위 SSR 화면 — 2칸
4순위 비행 스케줄 화면 — 2칸
5순위 작전상황판 — 1칸 (상시)
6순위 대공방어 자산 현황 — 1칸 (상시)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배치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비행단 전장상황도는 상황과 무관하게 항상 1순위로 고정됩니다 — 어떤 CCTV가 지금 떠 있는지 보여주는 기준 화면이기 때문입니다. 상황 유형에 매핑된 화면이 그다음이고, 남은 자리는 상시 표출 화면으로 채워 벽에 빈 칸이 남지 않게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역전을 코드로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면적이 우선순위를 따라 단조 감소하도록 배치표를 고정했습니다. 하위 화면이 상위보다 커지는 일이 생기면 “중요도에 따라 크기를 정한다”는 전제 자체가 무너지기 때문입니다.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② · 작전상황일지 · 상황판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같은 판단으로 기록까지 동시에 완성된다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작전상황일지 — 사태별 타임라인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14:02  항작       북서방 상공 무인기 2대 식별, 활주로 방향 접근
14:03  대공방어   북측 대공포 사격대기 완료, 유도탄 1조 전개
14:05  단장       1번 격추 대응, 2번 추적 유지 결심
CSV로 내보낼 때는 사태당 부서 수만큼 행을 펼쳐 기존 서식에 맞춥니다.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작전상황판 — 우선순위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#1  긴급   무인기 1번 격추 대응 진행
#2  주의   무인기 2번 추적 유지
#3  관찰   지상 차량 3대 정상 지원 차량 확인
복합 상황에서 지휘관·참모의 선택과 집중을 보좌하는 것이 목적입니다.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③ · 전장상황도 자동 마커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언급된 위치에 아이콘이 스스로 놓인다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자동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발언에 프리셋 키워드(무인기·전술차량·침투 등)가 있으면 해당 아이콘을 자동 배치합니다. 위치는 발언에 언급된 시설명, 없으면 방위를 담당하는 초소로 근사합니다.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모르면 찍지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위치를 특정할 수 없으면 아이콘을 올리지 않습니다. 지도에 거짓 정보를 남기지 않기 위해서입니다. 같은 사태의 대상이 이동하면 새로 쌓지 않고 기존 아이콘을 옮깁니다.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실무자의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‘전장상황도 조작’ 탭에서 클릭으로 정밀 위치만 보정합니다. 새 마커를 처음부터 손으로 만들 일은 없습니다.
고정 배치도 격자 A~J × 1~7 · 시설 26곳 · 초소 8곳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시연 ④ · 사용자 수동 보정의 이원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같은 실수를 두 번 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운영 중 — Context Memory에 규칙화 (즉시)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운용자가 잘못된 배치·판단을 교정하면 그 내용이 Context Memory에 즉시 기입되어, 같은 세션과 이후 세션에서 최우선으로 반영됩니다.
예: “기상 관측 화면은 항상 띄워 두십시오” → 이후 모든 판단에 규칙으로 주입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유지보수 시 — 재학습으로 모델에 반영 (주기적)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누적된 보정 사례를 모아 파인튜닝 데이터로 편입하고 주기적으로 재학습해 모델 자체에 반영합니다. 학습 데이터에도 이 형태를 미리 포함시켰습니다 — “항상 띄워야 하는 화면” 같은 배치 제약조건이 담긴 복합 명령문 6종.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4-⑤ 항의 이원 반영 구조를 그대로 구현했습니다.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· 왜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작전 정보는 부대 밖으로 나갈 수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보안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외부 인터넷이 필요한 상용 AI 대신 부대 내 서버에서 구동하는 오픈소스 sLLM을 써야 작전 정보 유출 경로가 원천 차단됩니다.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도메인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범용 모델은 “사태”, “MSEL”, “최소운영활주로” 같은 용어와 상황일지 서식을 모릅니다. 긴 지시문으로 매번 설명하는 대신 모델에 새겨 넣습니다.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속도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지시문이 짧아지면 입력 토큰이 줄고 그만큼 표출이 빨라집니다. FAST 20.1% · FULL 40.4% 절감을 실측했습니다.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3-다 요구: 4bit 양자화 2~4GB · 기본 구성 GPU 10~12GB   /   채택 모델: Qwen2.5-3B-Instruct nf4 ≈ 2.0GB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① · 데이터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발언 한 건마다 네 가지 정답을 붙였다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960"/>
                <a:gridCol w="1920960"/>
                <a:gridCol w="2134400"/>
                <a:gridCol w="2347840"/>
                <a:gridCol w="23478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분할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시나리오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발언(턴)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학습 샘플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상황 유형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2,430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valid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266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11 / 11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1,527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3,054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기획서 1단계 목표 “학습 데이터 500건 이상” 대비 3배.  라벨 네 종 — 발화자 구분·영향력 태그 / 주요사태(MSEL) 분류 / 사태별 중요도·긴급도 / 화면 구성(COP) 정답.
학습 데이터는 앱이 실제로 쓰는 프롬프트 생성 함수를 그대로 호출해 만들므로, 학습과 서빙이 어긋날 수 없습니다.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파인튜닝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② · 학습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무료 GPU 두 장으로 33분에 끝난다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손실은 응답 구간에만 겁니다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시스템 프롬프트가 길고 모든 샘플에서 동일합니다. 거기에도 손실을 걸면 모델이 프롬프트 암기에 용량을 쓰고 정작 JSON 형식 준수는 덜 배웁니다.
손실이 걸리는 토큰 — FAST 3.3% · FULL 8.4%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6000" y="2160000"/>
            <a:ext cx="5246000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2000" y="2376000"/>
            <a:ext cx="481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few-shot 없이 학습합니다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2000" y="2844000"/>
            <a:ext cx="48140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파인튜닝의 목적이 긴 예시 없이도 형식을 지키게 만드는 것이므로 학습 데이터에 예시를 넣지 않습니다. 그래야 서빙에서도 뺄 수 있고 그만큼 빨라집니다.
입력 토큰 절감 — FAST 20.1% · FULL 40.4%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QLoRA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4bit nf4 · r=16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18.5M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학습 파라미터 (전체의 1.2%)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33분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1에폭 152스텝 · T4 ×2 DDP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000" y="5075999"/>
            <a:ext cx="252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0.084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4000" y="5615999"/>
            <a:ext cx="25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평가 손실 (0.093 → 0.084)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파인튜닝 ③ ·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모든 지표가 동시에 올랐다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22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상황유형 정확도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4000" y="22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4000" y="2232000"/>
            <a:ext cx="251100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4000" y="2289600"/>
            <a:ext cx="4185000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9999" y="22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45.0 → 75.0  (+30.0)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272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COP 셀 일치율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4000" y="268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4000" y="2682000"/>
            <a:ext cx="411525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4000" y="2739600"/>
            <a:ext cx="4928814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9999" y="271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73.8 → 88.3  (+14.6)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31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일지 키워드 정확도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4000" y="31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4000" y="3132000"/>
            <a:ext cx="3380922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4000" y="3189600"/>
            <a:ext cx="4739094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9999" y="31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60.6 → 84.9  (+24.3)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000" y="362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일지 분류 정확도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4000" y="358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4000" y="3582000"/>
            <a:ext cx="460350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4000" y="3639600"/>
            <a:ext cx="5161500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999" y="361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82.5 → 92.5  (+10.0)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000" y="4075200"/>
            <a:ext cx="23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8B3"/>
                </a:solidFill>
                <a:latin typeface="맑은 고딕"/>
              </a:rPr>
              <a:t>ROUGE-L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4000" y="4032000"/>
            <a:ext cx="5580000" cy="223200"/>
          </a:xfrm>
          <a:prstGeom prst="rect">
            <a:avLst/>
          </a:prstGeom>
          <a:solidFill>
            <a:srgbClr val="121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4000" y="4032000"/>
            <a:ext cx="3063420" cy="223200"/>
          </a:xfrm>
          <a:prstGeom prst="rect">
            <a:avLst/>
          </a:prstGeom>
          <a:solidFill>
            <a:srgbClr val="24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4000" y="4089600"/>
            <a:ext cx="4419917" cy="10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999" y="4068000"/>
            <a:ext cx="14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A93B"/>
                </a:solidFill>
                <a:latin typeface="Consolas"/>
              </a:rPr>
              <a:t>54.9 → 79.2  (+24.3)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4000" y="4590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밝은 막대 = 튜닝 후 · 어두운 막대 = 튜닝 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000" y="5706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일지 누락률 0% (목표 5% 미만) · JSON 유효율 100%.  측정 조건 — Qwen2.5-1.5B-Instruct, 1에폭, test 40턴, 튜닝 전후 모두 4bit 로드. 튜닝 전에는 few-shot을 켜고 튜닝 후에는 끄고 측정했습니다 — 예시 없이도 형식을 지키는 것 자체가 성과이기 때문입니다.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기획서 3-라 · 4개 품질 지표 대비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목표와 현재 위치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040"/>
                <a:gridCol w="1814240"/>
                <a:gridCol w="1600800"/>
                <a:gridCol w="1494080"/>
                <a:gridCol w="23478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현행(수동)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현재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① 필요정보 표출 지연시간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약 1~2분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5초 이내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4.77초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달성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② 핵심정보 상위배치 정확도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담당자별 상이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88.33%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근접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③ 숙련도별 품질 편차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편차 큼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80% 감소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구조적 0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설계로 보장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④ 작전일지 정확도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지연·누락 발생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84.93%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근접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④ 작전일지 누락률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지연·누락 발생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5% 미만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달성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지표 ③이 “구조적 0”인 이유 — 화면 배치를 사람이 아니라 플레이북이 결정하므로, 누가 운용하든 같은 상황에는 같은 배치가 나옵니다. 숙련도에 따른 편차가 발생할 여지 자체가 없습니다.
②와 ④는 목표에 근접했으나 아직 미달입니다. 1.5B 모델을 1에폭 학습한 결과이며, 기획서가 지정한 3B로 올리면 개선 여지가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폐쇄망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코드를 고치지 않고 부대 서버로 옮긴다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시연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클라우드 무료 모델 · 인터넷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5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5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학습한 모델 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LoRA 어댑터를 베이스에 합쳐 통짜 가중치로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0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0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0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EEF2"/>
                </a:solidFill>
                <a:latin typeface="맑은 고딕"/>
              </a:rPr>
              <a:t>4bit 양자화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0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3B Q4_K_M ≈ 2GB · 기획서 요구 부합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6500" y="2772000"/>
            <a:ext cx="27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1757F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6500" y="2160000"/>
            <a:ext cx="2465500" cy="1512000"/>
          </a:xfrm>
          <a:prstGeom prst="rect">
            <a:avLst/>
          </a:prstGeom>
          <a:solidFill>
            <a:srgbClr val="121B21"/>
          </a:solidFill>
          <a:ln w="12700">
            <a:solidFill>
              <a:srgbClr val="E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6500" y="2340000"/>
            <a:ext cx="21055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0A93B"/>
                </a:solidFill>
                <a:latin typeface="맑은 고딕"/>
              </a:rPr>
              <a:t>부대 내 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6500" y="2772000"/>
            <a:ext cx="21055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vLLM / Ollama · 인터넷 불필요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설계 시점부터 대비했습니다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세 공급자(클라우드 2종, 온프레미스)가 모두 같은 OpenAI 호환 규격을 씁니다. 사이드바에서 공급자만 바꾸면 접속 주소만 갈아끼워지고 코드 변경이 없습니다.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000" y="3960000"/>
            <a:ext cx="5201000" cy="1296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1000" y="4122000"/>
            <a:ext cx="4841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6EEF2"/>
                </a:solidFill>
                <a:latin typeface="맑은 고딕"/>
              </a:rPr>
              <a:t>시연도 작은 모델로 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000" y="4463999"/>
            <a:ext cx="4841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93A8B3"/>
                </a:solidFill>
                <a:latin typeface="맑은 고딕"/>
              </a:rPr>
              <a:t>거대 클라우드 모델로 시연해 놓고 온프레미스 12GB에서 된다고 주장하면 성립하지 않습니다. 시연에 쓰는 모델도 폐쇄망에서 돌릴 수 있는 크기입니다.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보안 · 군 환경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작전 정보를 다루는 AI의 3중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방어 ① 유출 차단 — 데이터가 부대 밖으로 나가지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외부 인터넷이 필요한 상용 AI를 쓰지 않습니다. 부대 내 서버에서 구동하는 오픈소스 sLLM을 직접 학습시켜 쓰므로, 작전 정보가 외부로 전송되는 경로 자체가 없습니다.
Qwen2.5-3B · 4bit 약 2GB · 부대 서버 1대로 충분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방어 ② 생성 통제 — 모델이 지어낼 수 있는 것이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화면 이름·좌표·제어 명령을 모델이 자유롭게 생성하지 못합니다. LLM은 상황 유형 하나만 분류하고, 실제 배치는 운용자 플레이북과 폐쇄 카탈로그(270건)를 거칩니다.
존재하지 않는 화면을 띄우라는 명령이 나올 수 없습니다.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266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방어 ③ 권한 한정 — 결심은 사람이 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본 체계는 표출·기록 보조에 한정됩니다. 무기체계 통제·사격 지시 등 결심·타격 기능은 개발 범위에서 명시적으로 제외했습니다. AI는 지휘관이 더 잘 보도록 돕고, 판단은 지휘관이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" y="563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시연 환경에도 접근 통제를 적용했습니다 — 외부 접속에는 암호를 요구하고, 암호가 설정되지 않았으면 외부 접속 자체를 차단합니다(fail-closed). API 키는 코드에 넣지 않고 별도 비밀 저장소로 분리했습니다.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보안 · 예상되는 위험과 대비책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AI가 지휘소에서 틀렸을 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0000" y="2160000"/>
          <a:ext cx="10672000" cy="1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80"/>
                <a:gridCol w="3201600"/>
                <a:gridCol w="3628480"/>
                <a:gridCol w="1814240"/>
              </a:tblGrid>
              <a:tr h="306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위험 요소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기획서 대비책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프로토타입 구현 현황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1757F"/>
                          </a:solidFill>
                          <a:latin typeface="Consolas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거짓 정보 생성 (환각)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비정상 수치·맥락에 맞지 않는 화면이 기준치를 초과하면 검증 단계에서 탐지 후 재생성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폐쇄 카탈로그·플레이북으로 생성 경로 자체를 제거. JSON 강제 + 파싱 실패 시 재시도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구현 (유효율 100%)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성능 저하 (모델 Drift)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월간 성능 모니터링·경보, 최신 일지·라벨을 추가한 분기별 재학습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평가 하네스 자동화 완료. 데이터 추가 후 같은 명령으로 재측정·재학습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구현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실행 불가능한 코드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실행 전 정적 검사 + 테스트 통과를 요구하는 재생성 루프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프로토타입은 코드를 생성하지 않는다. 화면 배치를 코드 생성이 아니라 플레이북 대입으로 해결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해당 없음</a:t>
                      </a:r>
                    </a:p>
                  </a:txBody>
                  <a:tcPr>
                    <a:solidFill>
                      <a:srgbClr val="121B21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비정상 시스템 동작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보안 취약점 검사(bandit) + 격리 환경(Docker·Seccomp)에서 허용된 동작만 실행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3A8B3"/>
                          </a:solidFill>
                          <a:latin typeface="맑은 고딕"/>
                        </a:defRPr>
                      </a:pPr>
                      <a:r>
                        <a:t>실제 GUI 자동화(pywinauto) 연동 단계에서 필요. 현재는 화면 조작을 시뮬레이션만 하므로 미적용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0A93B"/>
                          </a:solidFill>
                          <a:latin typeface="맑은 고딕"/>
                        </a:defRPr>
                      </a:pPr>
                      <a:r>
                        <a:t>향후</a:t>
                      </a:r>
                    </a:p>
                  </a:txBody>
                  <a:tcPr>
                    <a:solidFill>
                      <a:srgbClr val="0A10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0000" y="5562000"/>
            <a:ext cx="1067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세 번째 항목이 설계의 핵심입니다. 기획서는 “AI가 만든 제어 코드를 검증하고 격리 실행한다”고 했지만, 프로토타입은 그 코드를 아예 만들지 않는 구조를 택했습니다 — 위험을 가두는 대신 위험이 생길 자리를 없앤 것입니다. 실제 Video Wall을 물리적으로 조작하는 단계에 가면 기획서 원안의 격리 장치가 그때 필요합니다.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756000"/>
            <a:ext cx="1067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기대 효과 · 확장성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1044000"/>
            <a:ext cx="1067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EF2"/>
                </a:solidFill>
                <a:latin typeface="맑은 고딕"/>
              </a:rPr>
              <a:t>지휘 결심 속도와 인력 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작전적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보고 직후 지휘관이 눈으로 확인하며 결심합니다. 화면 조작·자료 검색·일지 기입이 동시에 자동 완성됩니다.
소요시간 1~2분 → 3~5초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7333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3333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인력 · 운용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3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수작업이 줄어 작전병·정통대대 인원의 부담과 오류가 경감되고 핵심 임무로 재배치됩니다.
부대당 1명 절감 시 연 약 3.6억원 (비행단급 14개 부대 기준)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4666" y="2160000"/>
            <a:ext cx="3437333" cy="3384000"/>
          </a:xfrm>
          <a:prstGeom prst="rect">
            <a:avLst/>
          </a:prstGeom>
          <a:solidFill>
            <a:srgbClr val="121B21"/>
          </a:solidFill>
          <a:ln w="12700">
            <a:solidFill>
              <a:srgbClr val="24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0666" y="2376000"/>
            <a:ext cx="3005333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6EEF2"/>
                </a:solidFill>
                <a:latin typeface="맑은 고딕"/>
              </a:rPr>
              <a:t>확장성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666" y="2844000"/>
            <a:ext cx="3005333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3A8B3"/>
                </a:solidFill>
                <a:latin typeface="맑은 고딕"/>
              </a:rPr>
              <a:t>부대별 최적화는 그 부대의 작전일지로 재학습하는 것만으로 완료됩니다. 구조 자체가 도메인 데이터만 바꾸면 이식 가능해 육·해군 지휘소, 재난상황실, 소방·경찰 관제센터로 확산할 수 있습니다.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23200"/>
            <a:ext cx="64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0A93B"/>
                </a:solidFill>
                <a:latin typeface="Consolas"/>
              </a:rPr>
              <a:t>VOICE-CUE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 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72000" y="6318000"/>
            <a:ext cx="21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1757F"/>
                </a:solidFill>
                <a:latin typeface="Consolas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1296000"/>
            <a:ext cx="10672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6EEF2"/>
                </a:solidFill>
                <a:latin typeface="맑은 고딕"/>
              </a:rPr>
              <a:t>화면 구성 품질이 담당자 숙련도에 의존하지 않게 만드는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4.77초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발언 종료 → 화면 표출
목표 5초 이내 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+30%p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파인튜닝으로 오른
상황 분류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0000" y="2951999"/>
            <a:ext cx="2736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A93B"/>
                </a:solidFill>
                <a:latin typeface="Consolas"/>
              </a:rPr>
              <a:t>2GB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0000" y="3491999"/>
            <a:ext cx="27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1757F"/>
                </a:solidFill>
                <a:latin typeface="맑은 고딕"/>
              </a:rPr>
              <a:t>부대 서버 한 대에
들어가는 모델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4248000"/>
            <a:ext cx="1067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3A8B3"/>
                </a:solidFill>
                <a:latin typeface="맑은 고딕"/>
              </a:rPr>
              <a:t>기획서가 제시한 1단계 “데이터셋 구축과 폐쇄망용 sLLM 파인튜닝”은 완료했습니다. 학습·평가 파이프라인이 자동화되어 있어, 실제 회의록이 확보되면 같은 절차로 부대에 특화할 수 있습니다.
VOICE-CUE · 팀 작비스 —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